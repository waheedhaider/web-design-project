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3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0651" y="1333468"/>
            <a:ext cx="4933950" cy="4466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8E8E8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171515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93716" y="963517"/>
            <a:ext cx="5001259" cy="557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466" y="2102802"/>
            <a:ext cx="5863590" cy="3108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DDDD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466" y="2096992"/>
            <a:ext cx="5913120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4" dirty="0"/>
              <a:t>FitLife</a:t>
            </a:r>
            <a:r>
              <a:rPr spc="-365" dirty="0"/>
              <a:t> </a:t>
            </a:r>
            <a:r>
              <a:rPr spc="-130" dirty="0"/>
              <a:t>Gym</a:t>
            </a:r>
            <a:r>
              <a:rPr spc="-360" dirty="0"/>
              <a:t> </a:t>
            </a:r>
            <a:r>
              <a:rPr spc="-245" dirty="0"/>
              <a:t>Website</a:t>
            </a:r>
            <a:r>
              <a:rPr spc="-360" dirty="0"/>
              <a:t> </a:t>
            </a:r>
            <a:r>
              <a:rPr spc="-265" dirty="0"/>
              <a:t>Project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7466" y="2870707"/>
            <a:ext cx="5927725" cy="19815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  <a:t>Presented by Waheed Haider Rizvi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b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</a:br>
            <a: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  <a:t>Course: B.Tech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spc="-20" dirty="0">
              <a:solidFill>
                <a:srgbClr val="8E8E8E"/>
              </a:solidFill>
              <a:latin typeface="Verdana"/>
              <a:cs typeface="Verdana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  <a:t>Branch: CSE Cyber Security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b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</a:br>
            <a: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  <a:t>Roll no: 60 </a:t>
            </a:r>
            <a:br>
              <a:rPr lang="en-US" sz="1400" spc="-20" dirty="0">
                <a:solidFill>
                  <a:srgbClr val="8E8E8E"/>
                </a:solidFill>
                <a:latin typeface="Verdana"/>
                <a:cs typeface="Verdana"/>
              </a:rPr>
            </a:br>
            <a:endParaRPr lang="en-US" sz="1400" dirty="0">
              <a:solidFill>
                <a:srgbClr val="FFFFFF"/>
              </a:solidFill>
              <a:latin typeface="OpenSymbol"/>
            </a:endParaRPr>
          </a:p>
          <a:p>
            <a:pPr marL="12700" marR="5080">
              <a:lnSpc>
                <a:spcPct val="132800"/>
              </a:lnSpc>
              <a:spcBef>
                <a:spcPts val="45"/>
              </a:spcBef>
            </a:pPr>
            <a:endParaRPr lang="en-US" sz="1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1125442"/>
            <a:ext cx="5273040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0" dirty="0"/>
              <a:t>Home</a:t>
            </a:r>
            <a:r>
              <a:rPr spc="-370" dirty="0"/>
              <a:t> </a:t>
            </a:r>
            <a:r>
              <a:rPr spc="-215" dirty="0"/>
              <a:t>Page</a:t>
            </a:r>
            <a:r>
              <a:rPr spc="-370" dirty="0"/>
              <a:t> </a:t>
            </a:r>
            <a:r>
              <a:rPr spc="-225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647700" y="4038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7700" y="4391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" y="4733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607466" y="2102802"/>
            <a:ext cx="5863590" cy="2761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55" dirty="0"/>
              <a:t>Core</a:t>
            </a:r>
            <a:r>
              <a:rPr spc="-220" dirty="0"/>
              <a:t> </a:t>
            </a:r>
            <a:r>
              <a:rPr spc="-30" dirty="0"/>
              <a:t>Components</a:t>
            </a:r>
          </a:p>
          <a:p>
            <a:pPr marL="12700" marR="5080">
              <a:lnSpc>
                <a:spcPct val="132400"/>
              </a:lnSpc>
              <a:spcBef>
                <a:spcPts val="1235"/>
              </a:spcBef>
            </a:pP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homepage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serves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as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welcoming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gateway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to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8E8E8E"/>
                </a:solidFill>
                <a:latin typeface="Verdana"/>
                <a:cs typeface="Verdana"/>
              </a:rPr>
              <a:t>FitLife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60" dirty="0">
                <a:solidFill>
                  <a:srgbClr val="8E8E8E"/>
                </a:solidFill>
                <a:latin typeface="Verdana"/>
                <a:cs typeface="Verdana"/>
              </a:rPr>
              <a:t>Gym,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8E8E8E"/>
                </a:solidFill>
                <a:latin typeface="Verdana"/>
                <a:cs typeface="Verdana"/>
              </a:rPr>
              <a:t>featuring </a:t>
            </a:r>
            <a:r>
              <a:rPr sz="1400" spc="-125" dirty="0">
                <a:solidFill>
                  <a:srgbClr val="8E8E8E"/>
                </a:solidFill>
                <a:latin typeface="Verdana"/>
                <a:cs typeface="Verdana"/>
              </a:rPr>
              <a:t>a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clean,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structured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layout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with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8E8E8E"/>
                </a:solidFill>
                <a:latin typeface="Verdana"/>
                <a:cs typeface="Verdana"/>
              </a:rPr>
              <a:t>HTML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elements.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8E8E8E"/>
                </a:solidFill>
                <a:latin typeface="Verdana"/>
                <a:cs typeface="Verdana"/>
              </a:rPr>
              <a:t>page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includes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8E8E8E"/>
                </a:solidFill>
                <a:latin typeface="Verdana"/>
                <a:cs typeface="Verdana"/>
              </a:rPr>
              <a:t>a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prominent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call-</a:t>
            </a:r>
            <a:r>
              <a:rPr sz="1400" spc="-130" dirty="0">
                <a:solidFill>
                  <a:srgbClr val="8E8E8E"/>
                </a:solidFill>
                <a:latin typeface="Verdana"/>
                <a:cs typeface="Verdana"/>
              </a:rPr>
              <a:t>to-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action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button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encouraging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visitors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to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start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their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fitness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journey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with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8E8E8E"/>
                </a:solidFill>
                <a:latin typeface="Verdana"/>
                <a:cs typeface="Verdana"/>
              </a:rPr>
              <a:t>a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free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trial.</a:t>
            </a:r>
            <a:endParaRPr sz="1400" dirty="0">
              <a:latin typeface="Verdana"/>
              <a:cs typeface="Verdana"/>
            </a:endParaRPr>
          </a:p>
          <a:p>
            <a:pPr marL="295910" marR="1595120">
              <a:lnSpc>
                <a:spcPct val="162900"/>
              </a:lnSpc>
              <a:spcBef>
                <a:spcPts val="715"/>
              </a:spcBef>
            </a:pP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header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 with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integrated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navigation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8E8E8E"/>
                </a:solidFill>
                <a:latin typeface="Verdana"/>
                <a:cs typeface="Verdana"/>
              </a:rPr>
              <a:t>menu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Engaging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button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8E8E8E"/>
                </a:solidFill>
                <a:latin typeface="Verdana"/>
                <a:cs typeface="Verdana"/>
              </a:rPr>
              <a:t>for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trial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sign-</a:t>
            </a:r>
            <a:r>
              <a:rPr sz="1400" spc="-25" dirty="0">
                <a:solidFill>
                  <a:srgbClr val="8E8E8E"/>
                </a:solidFill>
                <a:latin typeface="Verdana"/>
                <a:cs typeface="Verdana"/>
              </a:rPr>
              <a:t>ups</a:t>
            </a:r>
            <a:endParaRPr sz="1400" dirty="0">
              <a:latin typeface="Verdana"/>
              <a:cs typeface="Verdana"/>
            </a:endParaRPr>
          </a:p>
          <a:p>
            <a:pPr marL="295910">
              <a:lnSpc>
                <a:spcPct val="100000"/>
              </a:lnSpc>
              <a:spcBef>
                <a:spcPts val="1019"/>
              </a:spcBef>
            </a:pP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Consistent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footer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with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contact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information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4D51BE-9F9C-5CB2-360C-EFA7949CD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794" y="157127"/>
            <a:ext cx="4174328" cy="3751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250A0E-313A-B4A7-8A1F-DE773B2AD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4095750"/>
            <a:ext cx="4096322" cy="22005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60" dirty="0"/>
              <a:t>About</a:t>
            </a:r>
            <a:r>
              <a:rPr spc="-360" dirty="0"/>
              <a:t> </a:t>
            </a:r>
            <a:r>
              <a:rPr spc="-370" dirty="0"/>
              <a:t>&amp;</a:t>
            </a:r>
            <a:r>
              <a:rPr spc="-360" dirty="0"/>
              <a:t> </a:t>
            </a:r>
            <a:r>
              <a:rPr spc="-229" dirty="0"/>
              <a:t>Classes</a:t>
            </a:r>
            <a:r>
              <a:rPr spc="-355" dirty="0"/>
              <a:t> </a:t>
            </a:r>
            <a:r>
              <a:rPr spc="-175" dirty="0"/>
              <a:t>Pages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05375" y="1790699"/>
            <a:ext cx="5905500" cy="1609725"/>
            <a:chOff x="4905375" y="1790699"/>
            <a:chExt cx="5905500" cy="1609725"/>
          </a:xfrm>
        </p:grpSpPr>
        <p:sp>
          <p:nvSpPr>
            <p:cNvPr id="5" name="object 5"/>
            <p:cNvSpPr/>
            <p:nvPr/>
          </p:nvSpPr>
          <p:spPr>
            <a:xfrm>
              <a:off x="4910137" y="1795462"/>
              <a:ext cx="5895975" cy="1600200"/>
            </a:xfrm>
            <a:custGeom>
              <a:avLst/>
              <a:gdLst/>
              <a:ahLst/>
              <a:cxnLst/>
              <a:rect l="l" t="t" r="r" b="b"/>
              <a:pathLst>
                <a:path w="5895975" h="1600200">
                  <a:moveTo>
                    <a:pt x="5842469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1542935"/>
                  </a:lnTo>
                  <a:lnTo>
                    <a:pt x="0" y="1546694"/>
                  </a:lnTo>
                  <a:lnTo>
                    <a:pt x="19431" y="1586090"/>
                  </a:lnTo>
                  <a:lnTo>
                    <a:pt x="53505" y="1600200"/>
                  </a:lnTo>
                  <a:lnTo>
                    <a:pt x="5842469" y="1600200"/>
                  </a:lnTo>
                  <a:lnTo>
                    <a:pt x="5881865" y="1580769"/>
                  </a:lnTo>
                  <a:lnTo>
                    <a:pt x="5895975" y="1546694"/>
                  </a:lnTo>
                  <a:lnTo>
                    <a:pt x="5895975" y="53505"/>
                  </a:lnTo>
                  <a:lnTo>
                    <a:pt x="5876544" y="14109"/>
                  </a:lnTo>
                  <a:lnTo>
                    <a:pt x="5846191" y="368"/>
                  </a:lnTo>
                  <a:lnTo>
                    <a:pt x="584246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10137" y="1795462"/>
              <a:ext cx="5895975" cy="1600200"/>
            </a:xfrm>
            <a:custGeom>
              <a:avLst/>
              <a:gdLst/>
              <a:ahLst/>
              <a:cxnLst/>
              <a:rect l="l" t="t" r="r" b="b"/>
              <a:pathLst>
                <a:path w="5895975" h="1600200">
                  <a:moveTo>
                    <a:pt x="0" y="1542935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84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803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14109" y="19431"/>
                  </a:lnTo>
                  <a:lnTo>
                    <a:pt x="16776" y="16764"/>
                  </a:lnTo>
                  <a:lnTo>
                    <a:pt x="19431" y="14109"/>
                  </a:lnTo>
                  <a:lnTo>
                    <a:pt x="22313" y="11734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5838710" y="0"/>
                  </a:lnTo>
                  <a:lnTo>
                    <a:pt x="5842469" y="0"/>
                  </a:lnTo>
                  <a:lnTo>
                    <a:pt x="5846191" y="368"/>
                  </a:lnTo>
                  <a:lnTo>
                    <a:pt x="5870524" y="9652"/>
                  </a:lnTo>
                  <a:lnTo>
                    <a:pt x="5873648" y="11734"/>
                  </a:lnTo>
                  <a:lnTo>
                    <a:pt x="5894870" y="46088"/>
                  </a:lnTo>
                  <a:lnTo>
                    <a:pt x="5895975" y="53505"/>
                  </a:lnTo>
                  <a:lnTo>
                    <a:pt x="5895975" y="57264"/>
                  </a:lnTo>
                  <a:lnTo>
                    <a:pt x="5895975" y="1542935"/>
                  </a:lnTo>
                  <a:lnTo>
                    <a:pt x="5895975" y="1546694"/>
                  </a:lnTo>
                  <a:lnTo>
                    <a:pt x="5895606" y="1550428"/>
                  </a:lnTo>
                  <a:lnTo>
                    <a:pt x="5879198" y="1583423"/>
                  </a:lnTo>
                  <a:lnTo>
                    <a:pt x="5876544" y="1586090"/>
                  </a:lnTo>
                  <a:lnTo>
                    <a:pt x="5849886" y="1599095"/>
                  </a:lnTo>
                  <a:lnTo>
                    <a:pt x="5846191" y="1599831"/>
                  </a:lnTo>
                  <a:lnTo>
                    <a:pt x="5842469" y="1600200"/>
                  </a:lnTo>
                  <a:lnTo>
                    <a:pt x="5838710" y="1600200"/>
                  </a:lnTo>
                  <a:lnTo>
                    <a:pt x="57264" y="1600200"/>
                  </a:lnTo>
                  <a:lnTo>
                    <a:pt x="53505" y="1600200"/>
                  </a:lnTo>
                  <a:lnTo>
                    <a:pt x="49784" y="1599831"/>
                  </a:lnTo>
                  <a:lnTo>
                    <a:pt x="46088" y="1599095"/>
                  </a:lnTo>
                  <a:lnTo>
                    <a:pt x="42405" y="1598371"/>
                  </a:lnTo>
                  <a:lnTo>
                    <a:pt x="16776" y="1583423"/>
                  </a:lnTo>
                  <a:lnTo>
                    <a:pt x="14109" y="1580769"/>
                  </a:lnTo>
                  <a:lnTo>
                    <a:pt x="11734" y="1577873"/>
                  </a:lnTo>
                  <a:lnTo>
                    <a:pt x="9652" y="1574749"/>
                  </a:lnTo>
                  <a:lnTo>
                    <a:pt x="7556" y="1571625"/>
                  </a:lnTo>
                  <a:lnTo>
                    <a:pt x="1104" y="1554111"/>
                  </a:lnTo>
                  <a:lnTo>
                    <a:pt x="368" y="1550428"/>
                  </a:lnTo>
                  <a:lnTo>
                    <a:pt x="0" y="1546694"/>
                  </a:lnTo>
                  <a:lnTo>
                    <a:pt x="0" y="1542935"/>
                  </a:lnTo>
                  <a:close/>
                </a:path>
              </a:pathLst>
            </a:custGeom>
            <a:ln w="952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80343" y="1966118"/>
            <a:ext cx="5523865" cy="1206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5" dirty="0">
                <a:solidFill>
                  <a:srgbClr val="FFFFFF"/>
                </a:solidFill>
                <a:latin typeface="Arial Black"/>
                <a:cs typeface="Arial Black"/>
              </a:rPr>
              <a:t>About</a:t>
            </a:r>
            <a:r>
              <a:rPr sz="1750" spc="-185" dirty="0">
                <a:solidFill>
                  <a:srgbClr val="FFFFFF"/>
                </a:solidFill>
                <a:latin typeface="Arial Black"/>
                <a:cs typeface="Arial Black"/>
              </a:rPr>
              <a:t> Us </a:t>
            </a:r>
            <a:r>
              <a:rPr sz="1750" spc="-20" dirty="0">
                <a:solidFill>
                  <a:srgbClr val="FFFFFF"/>
                </a:solidFill>
                <a:latin typeface="Arial Black"/>
                <a:cs typeface="Arial Black"/>
              </a:rPr>
              <a:t>Page</a:t>
            </a:r>
            <a:endParaRPr sz="1750">
              <a:latin typeface="Arial Black"/>
              <a:cs typeface="Arial Black"/>
            </a:endParaRPr>
          </a:p>
          <a:p>
            <a:pPr marL="12700" marR="5080">
              <a:lnSpc>
                <a:spcPct val="131700"/>
              </a:lnSpc>
              <a:spcBef>
                <a:spcPts val="570"/>
              </a:spcBef>
            </a:pP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Compelling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narrative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highlighting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FitLife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Verdana"/>
                <a:cs typeface="Verdana"/>
              </a:rPr>
              <a:t>Gym's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mission,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values,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community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focus.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Features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professional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photography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showcasing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facility's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modern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interior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welcoming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atmosphere.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05375" y="3571875"/>
            <a:ext cx="5905500" cy="1895475"/>
            <a:chOff x="4905375" y="3571875"/>
            <a:chExt cx="5905500" cy="1895475"/>
          </a:xfrm>
        </p:grpSpPr>
        <p:sp>
          <p:nvSpPr>
            <p:cNvPr id="9" name="object 9"/>
            <p:cNvSpPr/>
            <p:nvPr/>
          </p:nvSpPr>
          <p:spPr>
            <a:xfrm>
              <a:off x="4910137" y="3576637"/>
              <a:ext cx="5895975" cy="1885950"/>
            </a:xfrm>
            <a:custGeom>
              <a:avLst/>
              <a:gdLst/>
              <a:ahLst/>
              <a:cxnLst/>
              <a:rect l="l" t="t" r="r" b="b"/>
              <a:pathLst>
                <a:path w="5895975" h="1885950">
                  <a:moveTo>
                    <a:pt x="5842469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1828686"/>
                  </a:lnTo>
                  <a:lnTo>
                    <a:pt x="0" y="1832447"/>
                  </a:lnTo>
                  <a:lnTo>
                    <a:pt x="19431" y="1871836"/>
                  </a:lnTo>
                  <a:lnTo>
                    <a:pt x="53505" y="1885951"/>
                  </a:lnTo>
                  <a:lnTo>
                    <a:pt x="5842469" y="1885951"/>
                  </a:lnTo>
                  <a:lnTo>
                    <a:pt x="5881865" y="1866519"/>
                  </a:lnTo>
                  <a:lnTo>
                    <a:pt x="5895975" y="1832447"/>
                  </a:lnTo>
                  <a:lnTo>
                    <a:pt x="5895975" y="53505"/>
                  </a:lnTo>
                  <a:lnTo>
                    <a:pt x="5876544" y="14109"/>
                  </a:lnTo>
                  <a:lnTo>
                    <a:pt x="5846191" y="368"/>
                  </a:lnTo>
                  <a:lnTo>
                    <a:pt x="584246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0137" y="3576637"/>
              <a:ext cx="5895975" cy="1885950"/>
            </a:xfrm>
            <a:custGeom>
              <a:avLst/>
              <a:gdLst/>
              <a:ahLst/>
              <a:cxnLst/>
              <a:rect l="l" t="t" r="r" b="b"/>
              <a:pathLst>
                <a:path w="5895975" h="1885950">
                  <a:moveTo>
                    <a:pt x="0" y="1828686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84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803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14109" y="19431"/>
                  </a:lnTo>
                  <a:lnTo>
                    <a:pt x="16776" y="16764"/>
                  </a:lnTo>
                  <a:lnTo>
                    <a:pt x="19431" y="14109"/>
                  </a:lnTo>
                  <a:lnTo>
                    <a:pt x="22313" y="11734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5838710" y="0"/>
                  </a:lnTo>
                  <a:lnTo>
                    <a:pt x="5842469" y="0"/>
                  </a:lnTo>
                  <a:lnTo>
                    <a:pt x="5846191" y="368"/>
                  </a:lnTo>
                  <a:lnTo>
                    <a:pt x="5870524" y="9652"/>
                  </a:lnTo>
                  <a:lnTo>
                    <a:pt x="5873648" y="11734"/>
                  </a:lnTo>
                  <a:lnTo>
                    <a:pt x="5894870" y="46088"/>
                  </a:lnTo>
                  <a:lnTo>
                    <a:pt x="5895975" y="53505"/>
                  </a:lnTo>
                  <a:lnTo>
                    <a:pt x="5895975" y="57264"/>
                  </a:lnTo>
                  <a:lnTo>
                    <a:pt x="5895975" y="1828686"/>
                  </a:lnTo>
                  <a:lnTo>
                    <a:pt x="5895975" y="1832447"/>
                  </a:lnTo>
                  <a:lnTo>
                    <a:pt x="5895606" y="1836172"/>
                  </a:lnTo>
                  <a:lnTo>
                    <a:pt x="5879198" y="1869178"/>
                  </a:lnTo>
                  <a:lnTo>
                    <a:pt x="5876544" y="1871836"/>
                  </a:lnTo>
                  <a:lnTo>
                    <a:pt x="5873648" y="1874208"/>
                  </a:lnTo>
                  <a:lnTo>
                    <a:pt x="5870524" y="1876296"/>
                  </a:lnTo>
                  <a:lnTo>
                    <a:pt x="5867400" y="1878385"/>
                  </a:lnTo>
                  <a:lnTo>
                    <a:pt x="5864098" y="1880151"/>
                  </a:lnTo>
                  <a:lnTo>
                    <a:pt x="5860618" y="1881590"/>
                  </a:lnTo>
                  <a:lnTo>
                    <a:pt x="5857151" y="1883029"/>
                  </a:lnTo>
                  <a:lnTo>
                    <a:pt x="5853569" y="1884114"/>
                  </a:lnTo>
                  <a:lnTo>
                    <a:pt x="5849886" y="1884850"/>
                  </a:lnTo>
                  <a:lnTo>
                    <a:pt x="5846191" y="1885584"/>
                  </a:lnTo>
                  <a:lnTo>
                    <a:pt x="5842469" y="1885951"/>
                  </a:lnTo>
                  <a:lnTo>
                    <a:pt x="5838710" y="1885951"/>
                  </a:lnTo>
                  <a:lnTo>
                    <a:pt x="57264" y="1885951"/>
                  </a:lnTo>
                  <a:lnTo>
                    <a:pt x="53505" y="1885951"/>
                  </a:lnTo>
                  <a:lnTo>
                    <a:pt x="49784" y="1885584"/>
                  </a:lnTo>
                  <a:lnTo>
                    <a:pt x="25450" y="1876296"/>
                  </a:lnTo>
                  <a:lnTo>
                    <a:pt x="22313" y="1874208"/>
                  </a:lnTo>
                  <a:lnTo>
                    <a:pt x="19431" y="1871836"/>
                  </a:lnTo>
                  <a:lnTo>
                    <a:pt x="16776" y="1869178"/>
                  </a:lnTo>
                  <a:lnTo>
                    <a:pt x="14109" y="1866519"/>
                  </a:lnTo>
                  <a:lnTo>
                    <a:pt x="11734" y="1863627"/>
                  </a:lnTo>
                  <a:lnTo>
                    <a:pt x="9652" y="1860501"/>
                  </a:lnTo>
                  <a:lnTo>
                    <a:pt x="7556" y="1857376"/>
                  </a:lnTo>
                  <a:lnTo>
                    <a:pt x="1104" y="1839859"/>
                  </a:lnTo>
                  <a:lnTo>
                    <a:pt x="368" y="1836172"/>
                  </a:lnTo>
                  <a:lnTo>
                    <a:pt x="0" y="1832447"/>
                  </a:lnTo>
                  <a:lnTo>
                    <a:pt x="0" y="1828686"/>
                  </a:lnTo>
                  <a:close/>
                </a:path>
              </a:pathLst>
            </a:custGeom>
            <a:ln w="952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80343" y="3747293"/>
            <a:ext cx="5522595" cy="1501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30" dirty="0">
                <a:solidFill>
                  <a:srgbClr val="FFFFFF"/>
                </a:solidFill>
                <a:latin typeface="Arial Black"/>
                <a:cs typeface="Arial Black"/>
              </a:rPr>
              <a:t>Classes</a:t>
            </a:r>
            <a:r>
              <a:rPr sz="17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Arial Black"/>
                <a:cs typeface="Arial Black"/>
              </a:rPr>
              <a:t>Page</a:t>
            </a:r>
            <a:endParaRPr sz="1750">
              <a:latin typeface="Arial Black"/>
              <a:cs typeface="Arial Black"/>
            </a:endParaRPr>
          </a:p>
          <a:p>
            <a:pPr marL="12700" marR="5080">
              <a:lnSpc>
                <a:spcPct val="133900"/>
              </a:lnSpc>
              <a:spcBef>
                <a:spcPts val="535"/>
              </a:spcBef>
            </a:pP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Detailed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breakdown </a:t>
            </a:r>
            <a:r>
              <a:rPr sz="1400" spc="-6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three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signature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programs: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Verdana"/>
                <a:cs typeface="Verdana"/>
              </a:rPr>
              <a:t>Yoga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flexibility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mindfulness, 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Spin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cardio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endurance,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Strength 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training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for 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building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Verdana"/>
                <a:cs typeface="Verdana"/>
              </a:rPr>
              <a:t>power.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Each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section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pairs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descriptive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content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inspiring imagery.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4EEA3B-ED6E-5896-516A-26A3C05CD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4878438" cy="33956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C6BF9E-3572-D72C-9A0D-E2B755F4F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13083"/>
            <a:ext cx="4800600" cy="2932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1563592"/>
            <a:ext cx="5087620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90" dirty="0"/>
              <a:t>Contact</a:t>
            </a:r>
            <a:r>
              <a:rPr spc="-355" dirty="0"/>
              <a:t> </a:t>
            </a:r>
            <a:r>
              <a:rPr spc="-215" dirty="0"/>
              <a:t>Page</a:t>
            </a:r>
            <a:r>
              <a:rPr spc="-355" dirty="0"/>
              <a:t> </a:t>
            </a:r>
            <a:r>
              <a:rPr spc="-195" dirty="0"/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476499"/>
            <a:ext cx="3295650" cy="1628775"/>
            <a:chOff x="600075" y="2476499"/>
            <a:chExt cx="3295650" cy="1628775"/>
          </a:xfrm>
        </p:grpSpPr>
        <p:sp>
          <p:nvSpPr>
            <p:cNvPr id="4" name="object 4"/>
            <p:cNvSpPr/>
            <p:nvPr/>
          </p:nvSpPr>
          <p:spPr>
            <a:xfrm>
              <a:off x="619125" y="2486024"/>
              <a:ext cx="3267075" cy="1609725"/>
            </a:xfrm>
            <a:custGeom>
              <a:avLst/>
              <a:gdLst/>
              <a:ahLst/>
              <a:cxnLst/>
              <a:rect l="l" t="t" r="r" b="b"/>
              <a:pathLst>
                <a:path w="3267075" h="1609725">
                  <a:moveTo>
                    <a:pt x="321802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543050"/>
                  </a:lnTo>
                  <a:lnTo>
                    <a:pt x="0" y="1547431"/>
                  </a:lnTo>
                  <a:lnTo>
                    <a:pt x="15622" y="1583728"/>
                  </a:lnTo>
                  <a:lnTo>
                    <a:pt x="51663" y="1606321"/>
                  </a:lnTo>
                  <a:lnTo>
                    <a:pt x="71194" y="1609725"/>
                  </a:lnTo>
                  <a:lnTo>
                    <a:pt x="3218027" y="1609725"/>
                  </a:lnTo>
                  <a:lnTo>
                    <a:pt x="3254133" y="1591906"/>
                  </a:lnTo>
                  <a:lnTo>
                    <a:pt x="3267075" y="1560677"/>
                  </a:lnTo>
                  <a:lnTo>
                    <a:pt x="3267075" y="49047"/>
                  </a:lnTo>
                  <a:lnTo>
                    <a:pt x="3249256" y="12941"/>
                  </a:lnTo>
                  <a:lnTo>
                    <a:pt x="3221443" y="330"/>
                  </a:lnTo>
                  <a:lnTo>
                    <a:pt x="3218027" y="0"/>
                  </a:lnTo>
                  <a:close/>
                </a:path>
              </a:pathLst>
            </a:custGeom>
            <a:solidFill>
              <a:srgbClr val="171515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9963" y="2476512"/>
              <a:ext cx="3275965" cy="1628775"/>
            </a:xfrm>
            <a:custGeom>
              <a:avLst/>
              <a:gdLst/>
              <a:ahLst/>
              <a:cxnLst/>
              <a:rect l="l" t="t" r="r" b="b"/>
              <a:pathLst>
                <a:path w="3275965" h="1628775">
                  <a:moveTo>
                    <a:pt x="3275685" y="53441"/>
                  </a:moveTo>
                  <a:lnTo>
                    <a:pt x="3274174" y="45885"/>
                  </a:lnTo>
                  <a:lnTo>
                    <a:pt x="3267875" y="30683"/>
                  </a:lnTo>
                  <a:lnTo>
                    <a:pt x="3263392" y="23977"/>
                  </a:lnTo>
                  <a:lnTo>
                    <a:pt x="3258058" y="18643"/>
                  </a:lnTo>
                  <a:lnTo>
                    <a:pt x="3257588" y="18161"/>
                  </a:lnTo>
                  <a:lnTo>
                    <a:pt x="3251771" y="12344"/>
                  </a:lnTo>
                  <a:lnTo>
                    <a:pt x="3245066" y="7874"/>
                  </a:lnTo>
                  <a:lnTo>
                    <a:pt x="3230067" y="1651"/>
                  </a:lnTo>
                  <a:lnTo>
                    <a:pt x="3230283" y="1651"/>
                  </a:lnTo>
                  <a:lnTo>
                    <a:pt x="322195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080" y="1651"/>
                  </a:lnTo>
                  <a:lnTo>
                    <a:pt x="59664" y="1651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2527" y="53797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13722" y="19050"/>
                  </a:lnTo>
                  <a:lnTo>
                    <a:pt x="3222307" y="19824"/>
                  </a:lnTo>
                  <a:lnTo>
                    <a:pt x="3230626" y="22313"/>
                  </a:lnTo>
                  <a:lnTo>
                    <a:pt x="3230448" y="22313"/>
                  </a:lnTo>
                  <a:lnTo>
                    <a:pt x="3237496" y="26123"/>
                  </a:lnTo>
                  <a:lnTo>
                    <a:pt x="3256635" y="61328"/>
                  </a:lnTo>
                  <a:lnTo>
                    <a:pt x="3256635" y="1567446"/>
                  </a:lnTo>
                  <a:lnTo>
                    <a:pt x="3255949" y="1574977"/>
                  </a:lnTo>
                  <a:lnTo>
                    <a:pt x="3255924" y="1575308"/>
                  </a:lnTo>
                  <a:lnTo>
                    <a:pt x="3253663" y="1582889"/>
                  </a:lnTo>
                  <a:lnTo>
                    <a:pt x="3253562" y="1583232"/>
                  </a:lnTo>
                  <a:lnTo>
                    <a:pt x="3249625" y="1590509"/>
                  </a:lnTo>
                  <a:lnTo>
                    <a:pt x="3213722" y="1609725"/>
                  </a:lnTo>
                  <a:lnTo>
                    <a:pt x="75349" y="1609725"/>
                  </a:lnTo>
                  <a:lnTo>
                    <a:pt x="33007" y="1600098"/>
                  </a:lnTo>
                  <a:lnTo>
                    <a:pt x="1092" y="1567446"/>
                  </a:lnTo>
                  <a:lnTo>
                    <a:pt x="0" y="1563331"/>
                  </a:lnTo>
                  <a:lnTo>
                    <a:pt x="609" y="1567446"/>
                  </a:lnTo>
                  <a:lnTo>
                    <a:pt x="2413" y="1574647"/>
                  </a:lnTo>
                  <a:lnTo>
                    <a:pt x="4851" y="1581442"/>
                  </a:lnTo>
                  <a:lnTo>
                    <a:pt x="4953" y="1581734"/>
                  </a:lnTo>
                  <a:lnTo>
                    <a:pt x="33007" y="1615935"/>
                  </a:lnTo>
                  <a:lnTo>
                    <a:pt x="75349" y="1628775"/>
                  </a:lnTo>
                  <a:lnTo>
                    <a:pt x="3221952" y="1628775"/>
                  </a:lnTo>
                  <a:lnTo>
                    <a:pt x="3229241" y="1627314"/>
                  </a:lnTo>
                  <a:lnTo>
                    <a:pt x="3229572" y="1627314"/>
                  </a:lnTo>
                  <a:lnTo>
                    <a:pt x="3245066" y="1620901"/>
                  </a:lnTo>
                  <a:lnTo>
                    <a:pt x="3251771" y="1616417"/>
                  </a:lnTo>
                  <a:lnTo>
                    <a:pt x="3257575" y="1610601"/>
                  </a:lnTo>
                  <a:lnTo>
                    <a:pt x="3258058" y="1610118"/>
                  </a:lnTo>
                  <a:lnTo>
                    <a:pt x="3263392" y="1604784"/>
                  </a:lnTo>
                  <a:lnTo>
                    <a:pt x="3267875" y="1598079"/>
                  </a:lnTo>
                  <a:lnTo>
                    <a:pt x="3274174" y="1582889"/>
                  </a:lnTo>
                  <a:lnTo>
                    <a:pt x="3275685" y="1575308"/>
                  </a:lnTo>
                  <a:lnTo>
                    <a:pt x="3275685" y="5344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75" y="2476499"/>
              <a:ext cx="76200" cy="1628775"/>
            </a:xfrm>
            <a:custGeom>
              <a:avLst/>
              <a:gdLst/>
              <a:ahLst/>
              <a:cxnLst/>
              <a:rect l="l" t="t" r="r" b="b"/>
              <a:pathLst>
                <a:path w="76200" h="1628775">
                  <a:moveTo>
                    <a:pt x="76200" y="0"/>
                  </a:moveTo>
                  <a:lnTo>
                    <a:pt x="57948" y="0"/>
                  </a:lnTo>
                  <a:lnTo>
                    <a:pt x="53915" y="393"/>
                  </a:lnTo>
                  <a:lnTo>
                    <a:pt x="15284" y="21043"/>
                  </a:lnTo>
                  <a:lnTo>
                    <a:pt x="0" y="57950"/>
                  </a:lnTo>
                  <a:lnTo>
                    <a:pt x="0" y="1566748"/>
                  </a:lnTo>
                  <a:lnTo>
                    <a:pt x="0" y="1570824"/>
                  </a:lnTo>
                  <a:lnTo>
                    <a:pt x="15284" y="1607731"/>
                  </a:lnTo>
                  <a:lnTo>
                    <a:pt x="53915" y="1628381"/>
                  </a:lnTo>
                  <a:lnTo>
                    <a:pt x="57948" y="1628775"/>
                  </a:lnTo>
                  <a:lnTo>
                    <a:pt x="76200" y="16287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0771" y="2661443"/>
            <a:ext cx="2805430" cy="1206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750" spc="-135" dirty="0">
                <a:solidFill>
                  <a:srgbClr val="8E8E8E"/>
                </a:solidFill>
                <a:latin typeface="Arial Black"/>
                <a:cs typeface="Arial Black"/>
              </a:rPr>
              <a:t>Physical</a:t>
            </a:r>
            <a:r>
              <a:rPr sz="1750" spc="-145" dirty="0">
                <a:solidFill>
                  <a:srgbClr val="8E8E8E"/>
                </a:solidFill>
                <a:latin typeface="Arial Black"/>
                <a:cs typeface="Arial Black"/>
              </a:rPr>
              <a:t> </a:t>
            </a:r>
            <a:r>
              <a:rPr sz="1750" spc="-10" dirty="0">
                <a:solidFill>
                  <a:srgbClr val="8E8E8E"/>
                </a:solidFill>
                <a:latin typeface="Arial Black"/>
                <a:cs typeface="Arial Black"/>
              </a:rPr>
              <a:t>Address</a:t>
            </a:r>
            <a:endParaRPr sz="1750">
              <a:latin typeface="Arial Black"/>
              <a:cs typeface="Arial Black"/>
            </a:endParaRPr>
          </a:p>
          <a:p>
            <a:pPr marL="12700" marR="5080" algn="just">
              <a:lnSpc>
                <a:spcPct val="131700"/>
              </a:lnSpc>
              <a:spcBef>
                <a:spcPts val="570"/>
              </a:spcBef>
            </a:pP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Complete</a:t>
            </a:r>
            <a:r>
              <a:rPr sz="1400" spc="1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street</a:t>
            </a:r>
            <a:r>
              <a:rPr sz="1400" spc="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address</a:t>
            </a:r>
            <a:r>
              <a:rPr sz="1400" spc="1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8E8E8E"/>
                </a:solidFill>
                <a:latin typeface="Verdana"/>
                <a:cs typeface="Verdana"/>
              </a:rPr>
              <a:t>displayed 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prominently</a:t>
            </a:r>
            <a:r>
              <a:rPr sz="1400" spc="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for</a:t>
            </a:r>
            <a:r>
              <a:rPr sz="1400" spc="2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visitors</a:t>
            </a:r>
            <a:r>
              <a:rPr sz="1400" spc="2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planning</a:t>
            </a:r>
            <a:r>
              <a:rPr sz="1400" spc="2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8E8E8E"/>
                </a:solidFill>
                <a:latin typeface="Verdana"/>
                <a:cs typeface="Verdana"/>
              </a:rPr>
              <a:t>to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visit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facility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in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person.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57650" y="2476499"/>
            <a:ext cx="3295650" cy="1628775"/>
            <a:chOff x="4057650" y="2476499"/>
            <a:chExt cx="3295650" cy="1628775"/>
          </a:xfrm>
        </p:grpSpPr>
        <p:sp>
          <p:nvSpPr>
            <p:cNvPr id="9" name="object 9"/>
            <p:cNvSpPr/>
            <p:nvPr/>
          </p:nvSpPr>
          <p:spPr>
            <a:xfrm>
              <a:off x="4076700" y="2486024"/>
              <a:ext cx="3267075" cy="1609725"/>
            </a:xfrm>
            <a:custGeom>
              <a:avLst/>
              <a:gdLst/>
              <a:ahLst/>
              <a:cxnLst/>
              <a:rect l="l" t="t" r="r" b="b"/>
              <a:pathLst>
                <a:path w="3267075" h="1609725">
                  <a:moveTo>
                    <a:pt x="321802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43050"/>
                  </a:lnTo>
                  <a:lnTo>
                    <a:pt x="0" y="1547431"/>
                  </a:lnTo>
                  <a:lnTo>
                    <a:pt x="15621" y="1583728"/>
                  </a:lnTo>
                  <a:lnTo>
                    <a:pt x="51663" y="1606321"/>
                  </a:lnTo>
                  <a:lnTo>
                    <a:pt x="71196" y="1609725"/>
                  </a:lnTo>
                  <a:lnTo>
                    <a:pt x="3218027" y="1609725"/>
                  </a:lnTo>
                  <a:lnTo>
                    <a:pt x="3254133" y="1591906"/>
                  </a:lnTo>
                  <a:lnTo>
                    <a:pt x="3267075" y="1560677"/>
                  </a:lnTo>
                  <a:lnTo>
                    <a:pt x="3267075" y="49047"/>
                  </a:lnTo>
                  <a:lnTo>
                    <a:pt x="3249256" y="12941"/>
                  </a:lnTo>
                  <a:lnTo>
                    <a:pt x="3221443" y="330"/>
                  </a:lnTo>
                  <a:lnTo>
                    <a:pt x="3218027" y="0"/>
                  </a:lnTo>
                  <a:close/>
                </a:path>
              </a:pathLst>
            </a:custGeom>
            <a:solidFill>
              <a:srgbClr val="171515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77538" y="2476512"/>
              <a:ext cx="3275965" cy="1628775"/>
            </a:xfrm>
            <a:custGeom>
              <a:avLst/>
              <a:gdLst/>
              <a:ahLst/>
              <a:cxnLst/>
              <a:rect l="l" t="t" r="r" b="b"/>
              <a:pathLst>
                <a:path w="3275965" h="1628775">
                  <a:moveTo>
                    <a:pt x="3275685" y="53441"/>
                  </a:moveTo>
                  <a:lnTo>
                    <a:pt x="3274174" y="45885"/>
                  </a:lnTo>
                  <a:lnTo>
                    <a:pt x="3267875" y="30683"/>
                  </a:lnTo>
                  <a:lnTo>
                    <a:pt x="3263392" y="23977"/>
                  </a:lnTo>
                  <a:lnTo>
                    <a:pt x="3258058" y="18643"/>
                  </a:lnTo>
                  <a:lnTo>
                    <a:pt x="3257588" y="18161"/>
                  </a:lnTo>
                  <a:lnTo>
                    <a:pt x="3251771" y="12344"/>
                  </a:lnTo>
                  <a:lnTo>
                    <a:pt x="3245066" y="7874"/>
                  </a:lnTo>
                  <a:lnTo>
                    <a:pt x="3230067" y="1651"/>
                  </a:lnTo>
                  <a:lnTo>
                    <a:pt x="3230283" y="1651"/>
                  </a:lnTo>
                  <a:lnTo>
                    <a:pt x="322195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080" y="1651"/>
                  </a:lnTo>
                  <a:lnTo>
                    <a:pt x="59651" y="1651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2527" y="53797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13722" y="19050"/>
                  </a:lnTo>
                  <a:lnTo>
                    <a:pt x="3222307" y="19824"/>
                  </a:lnTo>
                  <a:lnTo>
                    <a:pt x="3230626" y="22313"/>
                  </a:lnTo>
                  <a:lnTo>
                    <a:pt x="3230448" y="22313"/>
                  </a:lnTo>
                  <a:lnTo>
                    <a:pt x="3237496" y="26123"/>
                  </a:lnTo>
                  <a:lnTo>
                    <a:pt x="3256635" y="61328"/>
                  </a:lnTo>
                  <a:lnTo>
                    <a:pt x="3256635" y="1567446"/>
                  </a:lnTo>
                  <a:lnTo>
                    <a:pt x="3255949" y="1574977"/>
                  </a:lnTo>
                  <a:lnTo>
                    <a:pt x="3255924" y="1575308"/>
                  </a:lnTo>
                  <a:lnTo>
                    <a:pt x="3253663" y="1582889"/>
                  </a:lnTo>
                  <a:lnTo>
                    <a:pt x="3253562" y="1583232"/>
                  </a:lnTo>
                  <a:lnTo>
                    <a:pt x="3249625" y="1590509"/>
                  </a:lnTo>
                  <a:lnTo>
                    <a:pt x="3213722" y="1609725"/>
                  </a:lnTo>
                  <a:lnTo>
                    <a:pt x="75349" y="1609725"/>
                  </a:lnTo>
                  <a:lnTo>
                    <a:pt x="33007" y="1600098"/>
                  </a:lnTo>
                  <a:lnTo>
                    <a:pt x="1079" y="1567446"/>
                  </a:lnTo>
                  <a:lnTo>
                    <a:pt x="0" y="1563344"/>
                  </a:lnTo>
                  <a:lnTo>
                    <a:pt x="609" y="1567446"/>
                  </a:lnTo>
                  <a:lnTo>
                    <a:pt x="2413" y="1574647"/>
                  </a:lnTo>
                  <a:lnTo>
                    <a:pt x="4851" y="1581442"/>
                  </a:lnTo>
                  <a:lnTo>
                    <a:pt x="4953" y="1581734"/>
                  </a:lnTo>
                  <a:lnTo>
                    <a:pt x="33007" y="1615935"/>
                  </a:lnTo>
                  <a:lnTo>
                    <a:pt x="75349" y="1628775"/>
                  </a:lnTo>
                  <a:lnTo>
                    <a:pt x="3221952" y="1628775"/>
                  </a:lnTo>
                  <a:lnTo>
                    <a:pt x="3229241" y="1627314"/>
                  </a:lnTo>
                  <a:lnTo>
                    <a:pt x="3229572" y="1627314"/>
                  </a:lnTo>
                  <a:lnTo>
                    <a:pt x="3245066" y="1620901"/>
                  </a:lnTo>
                  <a:lnTo>
                    <a:pt x="3251771" y="1616417"/>
                  </a:lnTo>
                  <a:lnTo>
                    <a:pt x="3257575" y="1610601"/>
                  </a:lnTo>
                  <a:lnTo>
                    <a:pt x="3258058" y="1610118"/>
                  </a:lnTo>
                  <a:lnTo>
                    <a:pt x="3263392" y="1604784"/>
                  </a:lnTo>
                  <a:lnTo>
                    <a:pt x="3267875" y="1598079"/>
                  </a:lnTo>
                  <a:lnTo>
                    <a:pt x="3274174" y="1582889"/>
                  </a:lnTo>
                  <a:lnTo>
                    <a:pt x="3275685" y="1575308"/>
                  </a:lnTo>
                  <a:lnTo>
                    <a:pt x="3275685" y="5344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57650" y="2476499"/>
              <a:ext cx="76200" cy="1628775"/>
            </a:xfrm>
            <a:custGeom>
              <a:avLst/>
              <a:gdLst/>
              <a:ahLst/>
              <a:cxnLst/>
              <a:rect l="l" t="t" r="r" b="b"/>
              <a:pathLst>
                <a:path w="76200" h="1628775">
                  <a:moveTo>
                    <a:pt x="76200" y="0"/>
                  </a:moveTo>
                  <a:lnTo>
                    <a:pt x="57950" y="0"/>
                  </a:lnTo>
                  <a:lnTo>
                    <a:pt x="53911" y="393"/>
                  </a:lnTo>
                  <a:lnTo>
                    <a:pt x="15290" y="21043"/>
                  </a:lnTo>
                  <a:lnTo>
                    <a:pt x="0" y="57950"/>
                  </a:lnTo>
                  <a:lnTo>
                    <a:pt x="0" y="1566748"/>
                  </a:lnTo>
                  <a:lnTo>
                    <a:pt x="0" y="1570824"/>
                  </a:lnTo>
                  <a:lnTo>
                    <a:pt x="15290" y="1607731"/>
                  </a:lnTo>
                  <a:lnTo>
                    <a:pt x="53911" y="1628381"/>
                  </a:lnTo>
                  <a:lnTo>
                    <a:pt x="57950" y="1628775"/>
                  </a:lnTo>
                  <a:lnTo>
                    <a:pt x="76200" y="16287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16260" y="2661443"/>
            <a:ext cx="2654300" cy="1206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4" dirty="0">
                <a:solidFill>
                  <a:srgbClr val="8E8E8E"/>
                </a:solidFill>
                <a:latin typeface="Arial Black"/>
                <a:cs typeface="Arial Black"/>
              </a:rPr>
              <a:t>Phone</a:t>
            </a:r>
            <a:r>
              <a:rPr sz="1750" spc="-175" dirty="0">
                <a:solidFill>
                  <a:srgbClr val="8E8E8E"/>
                </a:solidFill>
                <a:latin typeface="Arial Black"/>
                <a:cs typeface="Arial Black"/>
              </a:rPr>
              <a:t> </a:t>
            </a:r>
            <a:r>
              <a:rPr sz="1750" spc="-10" dirty="0">
                <a:solidFill>
                  <a:srgbClr val="8E8E8E"/>
                </a:solidFill>
                <a:latin typeface="Arial Black"/>
                <a:cs typeface="Arial Black"/>
              </a:rPr>
              <a:t>Contact</a:t>
            </a:r>
            <a:endParaRPr sz="1750">
              <a:latin typeface="Arial Black"/>
              <a:cs typeface="Arial Black"/>
            </a:endParaRPr>
          </a:p>
          <a:p>
            <a:pPr marL="12700" marR="5080">
              <a:lnSpc>
                <a:spcPct val="131700"/>
              </a:lnSpc>
              <a:spcBef>
                <a:spcPts val="570"/>
              </a:spcBef>
            </a:pP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Direct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phone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line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8E8E8E"/>
                </a:solidFill>
                <a:latin typeface="Verdana"/>
                <a:cs typeface="Verdana"/>
              </a:rPr>
              <a:t>for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immediate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inquiries,</a:t>
            </a:r>
            <a:r>
              <a:rPr sz="1400" spc="-6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membership</a:t>
            </a:r>
            <a:r>
              <a:rPr sz="1400" spc="-6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questions,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and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scheduling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support.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15225" y="2476499"/>
            <a:ext cx="3295650" cy="1628775"/>
            <a:chOff x="7515225" y="2476499"/>
            <a:chExt cx="3295650" cy="1628775"/>
          </a:xfrm>
        </p:grpSpPr>
        <p:sp>
          <p:nvSpPr>
            <p:cNvPr id="14" name="object 14"/>
            <p:cNvSpPr/>
            <p:nvPr/>
          </p:nvSpPr>
          <p:spPr>
            <a:xfrm>
              <a:off x="7534275" y="2486024"/>
              <a:ext cx="3267075" cy="1609725"/>
            </a:xfrm>
            <a:custGeom>
              <a:avLst/>
              <a:gdLst/>
              <a:ahLst/>
              <a:cxnLst/>
              <a:rect l="l" t="t" r="r" b="b"/>
              <a:pathLst>
                <a:path w="3267075" h="1609725">
                  <a:moveTo>
                    <a:pt x="321802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43050"/>
                  </a:lnTo>
                  <a:lnTo>
                    <a:pt x="0" y="1547431"/>
                  </a:lnTo>
                  <a:lnTo>
                    <a:pt x="15621" y="1583728"/>
                  </a:lnTo>
                  <a:lnTo>
                    <a:pt x="51663" y="1606321"/>
                  </a:lnTo>
                  <a:lnTo>
                    <a:pt x="71196" y="1609725"/>
                  </a:lnTo>
                  <a:lnTo>
                    <a:pt x="3218027" y="1609725"/>
                  </a:lnTo>
                  <a:lnTo>
                    <a:pt x="3254133" y="1591906"/>
                  </a:lnTo>
                  <a:lnTo>
                    <a:pt x="3267075" y="1560677"/>
                  </a:lnTo>
                  <a:lnTo>
                    <a:pt x="3267075" y="49047"/>
                  </a:lnTo>
                  <a:lnTo>
                    <a:pt x="3249256" y="12941"/>
                  </a:lnTo>
                  <a:lnTo>
                    <a:pt x="3221443" y="330"/>
                  </a:lnTo>
                  <a:lnTo>
                    <a:pt x="3218027" y="0"/>
                  </a:lnTo>
                  <a:close/>
                </a:path>
              </a:pathLst>
            </a:custGeom>
            <a:solidFill>
              <a:srgbClr val="171515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35113" y="2476512"/>
              <a:ext cx="3275965" cy="1628775"/>
            </a:xfrm>
            <a:custGeom>
              <a:avLst/>
              <a:gdLst/>
              <a:ahLst/>
              <a:cxnLst/>
              <a:rect l="l" t="t" r="r" b="b"/>
              <a:pathLst>
                <a:path w="3275965" h="1628775">
                  <a:moveTo>
                    <a:pt x="3275685" y="53441"/>
                  </a:moveTo>
                  <a:lnTo>
                    <a:pt x="3274174" y="45885"/>
                  </a:lnTo>
                  <a:lnTo>
                    <a:pt x="3267875" y="30683"/>
                  </a:lnTo>
                  <a:lnTo>
                    <a:pt x="3263392" y="23977"/>
                  </a:lnTo>
                  <a:lnTo>
                    <a:pt x="3258058" y="18643"/>
                  </a:lnTo>
                  <a:lnTo>
                    <a:pt x="3257588" y="18161"/>
                  </a:lnTo>
                  <a:lnTo>
                    <a:pt x="3251758" y="12344"/>
                  </a:lnTo>
                  <a:lnTo>
                    <a:pt x="3245066" y="7874"/>
                  </a:lnTo>
                  <a:lnTo>
                    <a:pt x="3230067" y="1651"/>
                  </a:lnTo>
                  <a:lnTo>
                    <a:pt x="3230283" y="1651"/>
                  </a:lnTo>
                  <a:lnTo>
                    <a:pt x="322195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080" y="1651"/>
                  </a:lnTo>
                  <a:lnTo>
                    <a:pt x="59651" y="1651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2527" y="53797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13722" y="19050"/>
                  </a:lnTo>
                  <a:lnTo>
                    <a:pt x="3222307" y="19824"/>
                  </a:lnTo>
                  <a:lnTo>
                    <a:pt x="3230626" y="22313"/>
                  </a:lnTo>
                  <a:lnTo>
                    <a:pt x="3230448" y="22313"/>
                  </a:lnTo>
                  <a:lnTo>
                    <a:pt x="3237496" y="26123"/>
                  </a:lnTo>
                  <a:lnTo>
                    <a:pt x="3256635" y="61328"/>
                  </a:lnTo>
                  <a:lnTo>
                    <a:pt x="3256635" y="1567446"/>
                  </a:lnTo>
                  <a:lnTo>
                    <a:pt x="3255949" y="1574977"/>
                  </a:lnTo>
                  <a:lnTo>
                    <a:pt x="3255924" y="1575308"/>
                  </a:lnTo>
                  <a:lnTo>
                    <a:pt x="3253663" y="1582889"/>
                  </a:lnTo>
                  <a:lnTo>
                    <a:pt x="3253562" y="1583232"/>
                  </a:lnTo>
                  <a:lnTo>
                    <a:pt x="3249625" y="1590509"/>
                  </a:lnTo>
                  <a:lnTo>
                    <a:pt x="3213722" y="1609725"/>
                  </a:lnTo>
                  <a:lnTo>
                    <a:pt x="75349" y="1609725"/>
                  </a:lnTo>
                  <a:lnTo>
                    <a:pt x="33007" y="1600098"/>
                  </a:lnTo>
                  <a:lnTo>
                    <a:pt x="1079" y="1567446"/>
                  </a:lnTo>
                  <a:lnTo>
                    <a:pt x="0" y="1563344"/>
                  </a:lnTo>
                  <a:lnTo>
                    <a:pt x="609" y="1567446"/>
                  </a:lnTo>
                  <a:lnTo>
                    <a:pt x="2413" y="1574647"/>
                  </a:lnTo>
                  <a:lnTo>
                    <a:pt x="4851" y="1581442"/>
                  </a:lnTo>
                  <a:lnTo>
                    <a:pt x="4953" y="1581734"/>
                  </a:lnTo>
                  <a:lnTo>
                    <a:pt x="33007" y="1615935"/>
                  </a:lnTo>
                  <a:lnTo>
                    <a:pt x="75349" y="1628775"/>
                  </a:lnTo>
                  <a:lnTo>
                    <a:pt x="3221952" y="1628775"/>
                  </a:lnTo>
                  <a:lnTo>
                    <a:pt x="3229241" y="1627314"/>
                  </a:lnTo>
                  <a:lnTo>
                    <a:pt x="3229572" y="1627314"/>
                  </a:lnTo>
                  <a:lnTo>
                    <a:pt x="3245066" y="1620901"/>
                  </a:lnTo>
                  <a:lnTo>
                    <a:pt x="3251758" y="1616417"/>
                  </a:lnTo>
                  <a:lnTo>
                    <a:pt x="3257575" y="1610601"/>
                  </a:lnTo>
                  <a:lnTo>
                    <a:pt x="3258058" y="1610118"/>
                  </a:lnTo>
                  <a:lnTo>
                    <a:pt x="3263392" y="1604784"/>
                  </a:lnTo>
                  <a:lnTo>
                    <a:pt x="3267875" y="1598079"/>
                  </a:lnTo>
                  <a:lnTo>
                    <a:pt x="3274174" y="1582889"/>
                  </a:lnTo>
                  <a:lnTo>
                    <a:pt x="3275685" y="1575308"/>
                  </a:lnTo>
                  <a:lnTo>
                    <a:pt x="3275685" y="5344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15225" y="2476499"/>
              <a:ext cx="76200" cy="1628775"/>
            </a:xfrm>
            <a:custGeom>
              <a:avLst/>
              <a:gdLst/>
              <a:ahLst/>
              <a:cxnLst/>
              <a:rect l="l" t="t" r="r" b="b"/>
              <a:pathLst>
                <a:path w="76200" h="1628775">
                  <a:moveTo>
                    <a:pt x="76200" y="0"/>
                  </a:moveTo>
                  <a:lnTo>
                    <a:pt x="57950" y="0"/>
                  </a:lnTo>
                  <a:lnTo>
                    <a:pt x="53911" y="393"/>
                  </a:lnTo>
                  <a:lnTo>
                    <a:pt x="15290" y="21043"/>
                  </a:lnTo>
                  <a:lnTo>
                    <a:pt x="0" y="57950"/>
                  </a:lnTo>
                  <a:lnTo>
                    <a:pt x="0" y="1566748"/>
                  </a:lnTo>
                  <a:lnTo>
                    <a:pt x="0" y="1570824"/>
                  </a:lnTo>
                  <a:lnTo>
                    <a:pt x="15290" y="1607731"/>
                  </a:lnTo>
                  <a:lnTo>
                    <a:pt x="53911" y="1628381"/>
                  </a:lnTo>
                  <a:lnTo>
                    <a:pt x="57950" y="1628775"/>
                  </a:lnTo>
                  <a:lnTo>
                    <a:pt x="76200" y="16287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71904" y="2661443"/>
            <a:ext cx="2816225" cy="1206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25" dirty="0">
                <a:solidFill>
                  <a:srgbClr val="8E8E8E"/>
                </a:solidFill>
                <a:latin typeface="Arial Black"/>
                <a:cs typeface="Arial Black"/>
              </a:rPr>
              <a:t>Email</a:t>
            </a:r>
            <a:r>
              <a:rPr sz="1750" spc="-170" dirty="0">
                <a:solidFill>
                  <a:srgbClr val="8E8E8E"/>
                </a:solidFill>
                <a:latin typeface="Arial Black"/>
                <a:cs typeface="Arial Black"/>
              </a:rPr>
              <a:t> </a:t>
            </a:r>
            <a:r>
              <a:rPr sz="1750" spc="-10" dirty="0">
                <a:solidFill>
                  <a:srgbClr val="8E8E8E"/>
                </a:solidFill>
                <a:latin typeface="Arial Black"/>
                <a:cs typeface="Arial Black"/>
              </a:rPr>
              <a:t>Support</a:t>
            </a:r>
            <a:endParaRPr sz="1750">
              <a:latin typeface="Arial Black"/>
              <a:cs typeface="Arial Black"/>
            </a:endParaRPr>
          </a:p>
          <a:p>
            <a:pPr marL="12700" marR="5080">
              <a:lnSpc>
                <a:spcPct val="131700"/>
              </a:lnSpc>
              <a:spcBef>
                <a:spcPts val="570"/>
              </a:spcBef>
            </a:pP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Professional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email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address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8E8E8E"/>
                </a:solidFill>
                <a:latin typeface="Verdana"/>
                <a:cs typeface="Verdana"/>
              </a:rPr>
              <a:t>for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8E8E8E"/>
                </a:solidFill>
                <a:latin typeface="Verdana"/>
                <a:cs typeface="Verdana"/>
              </a:rPr>
              <a:t>non-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urgent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communications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8E8E8E"/>
                </a:solidFill>
                <a:latin typeface="Verdana"/>
                <a:cs typeface="Verdana"/>
              </a:rPr>
              <a:t>and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detailed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inquiries.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7453" y="4251833"/>
            <a:ext cx="997013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contact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page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maintains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consistency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through reused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 header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and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footer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components,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ensuring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seamless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navigation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across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entire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website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experience.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466" y="792067"/>
            <a:ext cx="5191760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35" dirty="0"/>
              <a:t>Login</a:t>
            </a:r>
            <a:r>
              <a:rPr spc="-380" dirty="0"/>
              <a:t> </a:t>
            </a:r>
            <a:r>
              <a:rPr spc="-370" dirty="0"/>
              <a:t>&amp;</a:t>
            </a:r>
            <a:r>
              <a:rPr spc="-375" dirty="0"/>
              <a:t> </a:t>
            </a:r>
            <a:r>
              <a:rPr spc="-95" dirty="0"/>
              <a:t>Sign-</a:t>
            </a:r>
            <a:r>
              <a:rPr spc="-240" dirty="0"/>
              <a:t>Up</a:t>
            </a:r>
            <a:r>
              <a:rPr spc="-375" dirty="0"/>
              <a:t> </a:t>
            </a:r>
            <a:r>
              <a:rPr spc="-185" dirty="0"/>
              <a:t>System</a:t>
            </a:r>
          </a:p>
        </p:txBody>
      </p:sp>
      <p:sp>
        <p:nvSpPr>
          <p:cNvPr id="6" name="object 6"/>
          <p:cNvSpPr/>
          <p:nvPr/>
        </p:nvSpPr>
        <p:spPr>
          <a:xfrm>
            <a:off x="647700" y="2419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700" y="27622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700" y="3114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7700" y="3457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7466" y="1778952"/>
            <a:ext cx="2129155" cy="181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40" dirty="0">
                <a:solidFill>
                  <a:srgbClr val="DDDDDD"/>
                </a:solidFill>
                <a:latin typeface="Arial Black"/>
                <a:cs typeface="Arial Black"/>
              </a:rPr>
              <a:t>Form</a:t>
            </a:r>
            <a:r>
              <a:rPr sz="2100" spc="-215" dirty="0">
                <a:solidFill>
                  <a:srgbClr val="DDDDDD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DDDDDD"/>
                </a:solidFill>
                <a:latin typeface="Arial Black"/>
                <a:cs typeface="Arial Black"/>
              </a:rPr>
              <a:t>Fields</a:t>
            </a:r>
            <a:endParaRPr sz="2100" dirty="0">
              <a:latin typeface="Arial Black"/>
              <a:cs typeface="Arial Black"/>
            </a:endParaRPr>
          </a:p>
          <a:p>
            <a:pPr marL="295910" marR="5080">
              <a:lnSpc>
                <a:spcPct val="162200"/>
              </a:lnSpc>
              <a:spcBef>
                <a:spcPts val="660"/>
              </a:spcBef>
            </a:pPr>
            <a:r>
              <a:rPr sz="1400" spc="-70" dirty="0">
                <a:solidFill>
                  <a:srgbClr val="8E8E8E"/>
                </a:solidFill>
                <a:latin typeface="Verdana"/>
                <a:cs typeface="Verdana"/>
              </a:rPr>
              <a:t>Full</a:t>
            </a:r>
            <a:r>
              <a:rPr sz="1400" spc="-13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name</a:t>
            </a:r>
            <a:r>
              <a:rPr sz="1400" spc="-13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input</a:t>
            </a:r>
            <a:r>
              <a:rPr sz="1400" spc="-13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8E8E8E"/>
                </a:solidFill>
                <a:latin typeface="Verdana"/>
                <a:cs typeface="Verdana"/>
              </a:rPr>
              <a:t>field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Email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address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8E8E8E"/>
                </a:solidFill>
                <a:latin typeface="Verdana"/>
                <a:cs typeface="Verdana"/>
              </a:rPr>
              <a:t>field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Password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8E8E8E"/>
                </a:solidFill>
                <a:latin typeface="Verdana"/>
                <a:cs typeface="Verdana"/>
              </a:rPr>
              <a:t>entry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Password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8E8E8E"/>
                </a:solidFill>
                <a:latin typeface="Verdana"/>
                <a:cs typeface="Verdana"/>
              </a:rPr>
              <a:t>confirmation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92247" y="2752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2247" y="3095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92247" y="34480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72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92247" y="40767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48000" y="1778952"/>
            <a:ext cx="2545080" cy="27082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066800">
              <a:lnSpc>
                <a:spcPts val="2630"/>
              </a:lnSpc>
              <a:spcBef>
                <a:spcPts val="85"/>
              </a:spcBef>
            </a:pPr>
            <a:r>
              <a:rPr sz="2100" spc="-100" dirty="0">
                <a:solidFill>
                  <a:srgbClr val="DDDDDD"/>
                </a:solidFill>
                <a:latin typeface="Arial Black"/>
                <a:cs typeface="Arial Black"/>
              </a:rPr>
              <a:t>JavaScript </a:t>
            </a:r>
            <a:r>
              <a:rPr sz="2100" spc="-145" dirty="0">
                <a:solidFill>
                  <a:srgbClr val="DDDDDD"/>
                </a:solidFill>
                <a:latin typeface="Arial Black"/>
                <a:cs typeface="Arial Black"/>
              </a:rPr>
              <a:t>Validations</a:t>
            </a:r>
            <a:endParaRPr sz="2100" dirty="0">
              <a:latin typeface="Arial Black"/>
              <a:cs typeface="Arial Black"/>
            </a:endParaRPr>
          </a:p>
          <a:p>
            <a:pPr marL="295910" marR="5080">
              <a:lnSpc>
                <a:spcPct val="160700"/>
              </a:lnSpc>
              <a:spcBef>
                <a:spcPts val="575"/>
              </a:spcBef>
            </a:pP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Name</a:t>
            </a:r>
            <a:r>
              <a:rPr sz="1400" spc="-12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8E8E8E"/>
                </a:solidFill>
                <a:latin typeface="Verdana"/>
                <a:cs typeface="Verdana"/>
              </a:rPr>
              <a:t>field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cannot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be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empty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Email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format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verification</a:t>
            </a:r>
            <a:endParaRPr sz="1400" dirty="0">
              <a:latin typeface="Verdana"/>
              <a:cs typeface="Verdana"/>
            </a:endParaRPr>
          </a:p>
          <a:p>
            <a:pPr marL="295910" marR="530225">
              <a:lnSpc>
                <a:spcPct val="129500"/>
              </a:lnSpc>
              <a:spcBef>
                <a:spcPts val="600"/>
              </a:spcBef>
            </a:pP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Minimum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8E8E8E"/>
                </a:solidFill>
                <a:latin typeface="Verdana"/>
                <a:cs typeface="Verdana"/>
              </a:rPr>
              <a:t>6-</a:t>
            </a:r>
            <a:r>
              <a:rPr sz="1400" spc="-70" dirty="0">
                <a:solidFill>
                  <a:srgbClr val="8E8E8E"/>
                </a:solidFill>
                <a:latin typeface="Verdana"/>
                <a:cs typeface="Verdana"/>
              </a:rPr>
              <a:t>character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password</a:t>
            </a:r>
            <a:endParaRPr sz="1400" dirty="0">
              <a:latin typeface="Verdana"/>
              <a:cs typeface="Verdana"/>
            </a:endParaRPr>
          </a:p>
          <a:p>
            <a:pPr marL="295910" marR="688340">
              <a:lnSpc>
                <a:spcPct val="129500"/>
              </a:lnSpc>
              <a:spcBef>
                <a:spcPts val="600"/>
              </a:spcBef>
            </a:pP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Password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 matching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confirmation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400" y="4737607"/>
            <a:ext cx="5772785" cy="8636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60"/>
              </a:spcBef>
            </a:pP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Client-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side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 validation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ensures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data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 integrity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before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submission,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8E8E8E"/>
                </a:solidFill>
                <a:latin typeface="Verdana"/>
                <a:cs typeface="Verdana"/>
              </a:rPr>
              <a:t>providing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immediate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feedback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to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8E8E8E"/>
                </a:solidFill>
                <a:latin typeface="Verdana"/>
                <a:cs typeface="Verdana"/>
              </a:rPr>
              <a:t>users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8E8E8E"/>
                </a:solidFill>
                <a:latin typeface="Verdana"/>
                <a:cs typeface="Verdana"/>
              </a:rPr>
              <a:t>and</a:t>
            </a:r>
            <a:r>
              <a:rPr sz="1400" spc="-11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8E8E8E"/>
                </a:solidFill>
                <a:latin typeface="Verdana"/>
                <a:cs typeface="Verdana"/>
              </a:rPr>
              <a:t>reducing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server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load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8E8E8E"/>
                </a:solidFill>
                <a:latin typeface="Verdana"/>
                <a:cs typeface="Verdana"/>
              </a:rPr>
              <a:t>while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improving </a:t>
            </a:r>
            <a:r>
              <a:rPr sz="1400" spc="-95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8E8E8E"/>
                </a:solidFill>
                <a:latin typeface="Verdana"/>
                <a:cs typeface="Verdana"/>
              </a:rPr>
              <a:t>overall</a:t>
            </a:r>
            <a:r>
              <a:rPr sz="1400" spc="-12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8E8E8E"/>
                </a:solidFill>
                <a:latin typeface="Verdana"/>
                <a:cs typeface="Verdana"/>
              </a:rPr>
              <a:t>user</a:t>
            </a:r>
            <a:r>
              <a:rPr sz="1400" spc="-114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8E8E8E"/>
                </a:solidFill>
                <a:latin typeface="Verdana"/>
                <a:cs typeface="Verdana"/>
              </a:rPr>
              <a:t>experience.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9F8E19-DF68-9FFF-9DAE-7D6C6C070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5949"/>
            <a:ext cx="2290333" cy="22233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5A609DE-939A-9408-36D9-39F34EB1C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419" y="2229347"/>
            <a:ext cx="5388381" cy="4117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480885"/>
            <a:ext cx="6901815" cy="530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114" dirty="0"/>
              <a:t>CSS</a:t>
            </a:r>
            <a:r>
              <a:rPr sz="3300" spc="-355" dirty="0"/>
              <a:t> </a:t>
            </a:r>
            <a:r>
              <a:rPr sz="3300" spc="-204" dirty="0"/>
              <a:t>Styling</a:t>
            </a:r>
            <a:r>
              <a:rPr sz="3300" spc="-355" dirty="0"/>
              <a:t> </a:t>
            </a:r>
            <a:r>
              <a:rPr sz="3300" spc="-254" dirty="0"/>
              <a:t>Framework</a:t>
            </a:r>
            <a:r>
              <a:rPr sz="3300" spc="-350" dirty="0"/>
              <a:t> </a:t>
            </a:r>
            <a:r>
              <a:rPr sz="3300" spc="-300" dirty="0"/>
              <a:t>(style.css)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619125" y="1619249"/>
            <a:ext cx="5010150" cy="19050"/>
          </a:xfrm>
          <a:custGeom>
            <a:avLst/>
            <a:gdLst/>
            <a:ahLst/>
            <a:cxnLst/>
            <a:rect l="l" t="t" r="r" b="b"/>
            <a:pathLst>
              <a:path w="5010150" h="19050">
                <a:moveTo>
                  <a:pt x="5010150" y="0"/>
                </a:moveTo>
                <a:lnTo>
                  <a:pt x="0" y="0"/>
                </a:lnTo>
                <a:lnTo>
                  <a:pt x="0" y="19050"/>
                </a:lnTo>
                <a:lnTo>
                  <a:pt x="5010150" y="19050"/>
                </a:lnTo>
                <a:lnTo>
                  <a:pt x="501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73445" y="1333468"/>
            <a:ext cx="21971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solidFill>
                  <a:srgbClr val="8E8E8E"/>
                </a:solidFill>
                <a:latin typeface="Arial MT"/>
                <a:cs typeface="Arial MT"/>
              </a:rPr>
              <a:t>02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0725" y="1619249"/>
            <a:ext cx="5010150" cy="19050"/>
          </a:xfrm>
          <a:custGeom>
            <a:avLst/>
            <a:gdLst/>
            <a:ahLst/>
            <a:cxnLst/>
            <a:rect l="l" t="t" r="r" b="b"/>
            <a:pathLst>
              <a:path w="5010150" h="19050">
                <a:moveTo>
                  <a:pt x="5010150" y="0"/>
                </a:moveTo>
                <a:lnTo>
                  <a:pt x="0" y="0"/>
                </a:lnTo>
                <a:lnTo>
                  <a:pt x="0" y="19050"/>
                </a:lnTo>
                <a:lnTo>
                  <a:pt x="5010150" y="19050"/>
                </a:lnTo>
                <a:lnTo>
                  <a:pt x="501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86386" y="1729517"/>
            <a:ext cx="4159250" cy="898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8E8E8E"/>
                </a:solidFill>
                <a:latin typeface="Arial Black"/>
                <a:cs typeface="Arial Black"/>
              </a:rPr>
              <a:t>Header</a:t>
            </a:r>
            <a:r>
              <a:rPr sz="1650" spc="-135" dirty="0">
                <a:solidFill>
                  <a:srgbClr val="8E8E8E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8E8E8E"/>
                </a:solidFill>
                <a:latin typeface="Arial Black"/>
                <a:cs typeface="Arial Black"/>
              </a:rPr>
              <a:t>Theme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9400"/>
              </a:lnSpc>
              <a:spcBef>
                <a:spcPts val="530"/>
              </a:spcBef>
            </a:pPr>
            <a:r>
              <a:rPr sz="1300" spc="-125" dirty="0">
                <a:solidFill>
                  <a:srgbClr val="8E8E8E"/>
                </a:solidFill>
                <a:latin typeface="Verdana"/>
                <a:cs typeface="Verdana"/>
              </a:rPr>
              <a:t>Dark-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themed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header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creates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strong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 visual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8E8E8E"/>
                </a:solidFill>
                <a:latin typeface="Verdana"/>
                <a:cs typeface="Verdana"/>
              </a:rPr>
              <a:t>contrast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8E8E8E"/>
                </a:solidFill>
                <a:latin typeface="Verdana"/>
                <a:cs typeface="Verdana"/>
              </a:rPr>
              <a:t>and </a:t>
            </a:r>
            <a:r>
              <a:rPr sz="1300" spc="-65" dirty="0">
                <a:solidFill>
                  <a:srgbClr val="8E8E8E"/>
                </a:solidFill>
                <a:latin typeface="Verdana"/>
                <a:cs typeface="Verdana"/>
              </a:rPr>
              <a:t>professional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appearance </a:t>
            </a:r>
            <a:r>
              <a:rPr sz="1300" spc="-50" dirty="0">
                <a:solidFill>
                  <a:srgbClr val="8E8E8E"/>
                </a:solidFill>
                <a:latin typeface="Verdana"/>
                <a:cs typeface="Verdana"/>
              </a:rPr>
              <a:t>for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the 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navigation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8E8E8E"/>
                </a:solidFill>
                <a:latin typeface="Verdana"/>
                <a:cs typeface="Verdana"/>
              </a:rPr>
              <a:t>area.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125" y="3209924"/>
            <a:ext cx="5010150" cy="19050"/>
          </a:xfrm>
          <a:custGeom>
            <a:avLst/>
            <a:gdLst/>
            <a:ahLst/>
            <a:cxnLst/>
            <a:rect l="l" t="t" r="r" b="b"/>
            <a:pathLst>
              <a:path w="5010150" h="19050">
                <a:moveTo>
                  <a:pt x="5010150" y="0"/>
                </a:moveTo>
                <a:lnTo>
                  <a:pt x="0" y="0"/>
                </a:lnTo>
                <a:lnTo>
                  <a:pt x="0" y="19050"/>
                </a:lnTo>
                <a:lnTo>
                  <a:pt x="5010150" y="19050"/>
                </a:lnTo>
                <a:lnTo>
                  <a:pt x="501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66143" y="2924143"/>
            <a:ext cx="23495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65" dirty="0">
                <a:solidFill>
                  <a:srgbClr val="8E8E8E"/>
                </a:solidFill>
                <a:latin typeface="Arial MT"/>
                <a:cs typeface="Arial MT"/>
              </a:rPr>
              <a:t>04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00725" y="3209924"/>
            <a:ext cx="5010150" cy="19050"/>
          </a:xfrm>
          <a:custGeom>
            <a:avLst/>
            <a:gdLst/>
            <a:ahLst/>
            <a:cxnLst/>
            <a:rect l="l" t="t" r="r" b="b"/>
            <a:pathLst>
              <a:path w="5010150" h="19050">
                <a:moveTo>
                  <a:pt x="5010150" y="0"/>
                </a:moveTo>
                <a:lnTo>
                  <a:pt x="0" y="0"/>
                </a:lnTo>
                <a:lnTo>
                  <a:pt x="0" y="19050"/>
                </a:lnTo>
                <a:lnTo>
                  <a:pt x="5010150" y="19050"/>
                </a:lnTo>
                <a:lnTo>
                  <a:pt x="501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86386" y="3320192"/>
            <a:ext cx="4497705" cy="889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8E8E8E"/>
                </a:solidFill>
                <a:latin typeface="Arial Black"/>
                <a:cs typeface="Arial Black"/>
              </a:rPr>
              <a:t>Button</a:t>
            </a:r>
            <a:r>
              <a:rPr sz="1650" spc="-150" dirty="0">
                <a:solidFill>
                  <a:srgbClr val="8E8E8E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8E8E8E"/>
                </a:solidFill>
                <a:latin typeface="Arial Black"/>
                <a:cs typeface="Arial Black"/>
              </a:rPr>
              <a:t>Styling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600"/>
              </a:lnSpc>
              <a:spcBef>
                <a:spcPts val="605"/>
              </a:spcBef>
            </a:pPr>
            <a:r>
              <a:rPr sz="1300" spc="-130" dirty="0">
                <a:solidFill>
                  <a:srgbClr val="8E8E8E"/>
                </a:solidFill>
                <a:latin typeface="Verdana"/>
                <a:cs typeface="Verdana"/>
              </a:rPr>
              <a:t>Eye-</a:t>
            </a:r>
            <a:r>
              <a:rPr sz="1300" spc="-55" dirty="0">
                <a:solidFill>
                  <a:srgbClr val="8E8E8E"/>
                </a:solidFill>
                <a:latin typeface="Verdana"/>
                <a:cs typeface="Verdana"/>
              </a:rPr>
              <a:t>catching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orange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buttons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8E8E8E"/>
                </a:solidFill>
                <a:latin typeface="Verdana"/>
                <a:cs typeface="Verdana"/>
              </a:rPr>
              <a:t>serve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8E8E8E"/>
                </a:solidFill>
                <a:latin typeface="Verdana"/>
                <a:cs typeface="Verdana"/>
              </a:rPr>
              <a:t>as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primary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call-</a:t>
            </a:r>
            <a:r>
              <a:rPr sz="1300" spc="-110" dirty="0">
                <a:solidFill>
                  <a:srgbClr val="8E8E8E"/>
                </a:solidFill>
                <a:latin typeface="Verdana"/>
                <a:cs typeface="Verdana"/>
              </a:rPr>
              <a:t>to-</a:t>
            </a:r>
            <a:r>
              <a:rPr sz="1300" spc="-10" dirty="0">
                <a:solidFill>
                  <a:srgbClr val="8E8E8E"/>
                </a:solidFill>
                <a:latin typeface="Verdana"/>
                <a:cs typeface="Verdana"/>
              </a:rPr>
              <a:t>action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elements</a:t>
            </a:r>
            <a:r>
              <a:rPr sz="13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throughout</a:t>
            </a:r>
            <a:r>
              <a:rPr sz="13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300" spc="-9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8E8E8E"/>
                </a:solidFill>
                <a:latin typeface="Verdana"/>
                <a:cs typeface="Verdana"/>
              </a:rPr>
              <a:t>site.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125" y="4791075"/>
            <a:ext cx="5010150" cy="19050"/>
          </a:xfrm>
          <a:custGeom>
            <a:avLst/>
            <a:gdLst/>
            <a:ahLst/>
            <a:cxnLst/>
            <a:rect l="l" t="t" r="r" b="b"/>
            <a:pathLst>
              <a:path w="5010150" h="19050">
                <a:moveTo>
                  <a:pt x="5010150" y="0"/>
                </a:moveTo>
                <a:lnTo>
                  <a:pt x="0" y="0"/>
                </a:lnTo>
                <a:lnTo>
                  <a:pt x="0" y="19050"/>
                </a:lnTo>
                <a:lnTo>
                  <a:pt x="5010150" y="19050"/>
                </a:lnTo>
                <a:lnTo>
                  <a:pt x="501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25"/>
              </a:spcBef>
            </a:pPr>
            <a:r>
              <a:rPr spc="-25" dirty="0"/>
              <a:t>01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-25" dirty="0"/>
          </a:p>
          <a:p>
            <a:pPr marL="29209">
              <a:lnSpc>
                <a:spcPct val="100000"/>
              </a:lnSpc>
            </a:pPr>
            <a:r>
              <a:rPr sz="1650" spc="-100" dirty="0">
                <a:latin typeface="Arial Black"/>
                <a:cs typeface="Arial Black"/>
              </a:rPr>
              <a:t>Foundation</a:t>
            </a:r>
            <a:r>
              <a:rPr sz="1650" spc="-125" dirty="0">
                <a:latin typeface="Arial Black"/>
                <a:cs typeface="Arial Black"/>
              </a:rPr>
              <a:t> </a:t>
            </a:r>
            <a:r>
              <a:rPr sz="1650" spc="-20" dirty="0">
                <a:latin typeface="Arial Black"/>
                <a:cs typeface="Arial Black"/>
              </a:rPr>
              <a:t>Reset</a:t>
            </a:r>
            <a:endParaRPr sz="1650">
              <a:latin typeface="Arial Black"/>
              <a:cs typeface="Arial Black"/>
            </a:endParaRPr>
          </a:p>
          <a:p>
            <a:pPr marL="29209" marR="5080">
              <a:lnSpc>
                <a:spcPct val="139400"/>
              </a:lnSpc>
              <a:spcBef>
                <a:spcPts val="530"/>
              </a:spcBef>
            </a:pPr>
            <a:r>
              <a:rPr spc="-70" dirty="0">
                <a:latin typeface="Verdana"/>
                <a:cs typeface="Verdana"/>
              </a:rPr>
              <a:t>Base</a:t>
            </a:r>
            <a:r>
              <a:rPr spc="-100" dirty="0">
                <a:latin typeface="Verdana"/>
                <a:cs typeface="Verdana"/>
              </a:rPr>
              <a:t> </a:t>
            </a:r>
            <a:r>
              <a:rPr spc="-85" dirty="0">
                <a:latin typeface="Verdana"/>
                <a:cs typeface="Verdana"/>
              </a:rPr>
              <a:t>CSS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75" dirty="0">
                <a:latin typeface="Verdana"/>
                <a:cs typeface="Verdana"/>
              </a:rPr>
              <a:t>reset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90" dirty="0">
                <a:latin typeface="Verdana"/>
                <a:cs typeface="Verdana"/>
              </a:rPr>
              <a:t>removes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70" dirty="0">
                <a:latin typeface="Verdana"/>
                <a:cs typeface="Verdana"/>
              </a:rPr>
              <a:t>browser</a:t>
            </a:r>
            <a:r>
              <a:rPr spc="-100" dirty="0">
                <a:latin typeface="Verdana"/>
                <a:cs typeface="Verdana"/>
              </a:rPr>
              <a:t> </a:t>
            </a:r>
            <a:r>
              <a:rPr spc="-55" dirty="0">
                <a:latin typeface="Verdana"/>
                <a:cs typeface="Verdana"/>
              </a:rPr>
              <a:t>inconsistencies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80" dirty="0">
                <a:latin typeface="Verdana"/>
                <a:cs typeface="Verdana"/>
              </a:rPr>
              <a:t>and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35" dirty="0">
                <a:latin typeface="Verdana"/>
                <a:cs typeface="Verdana"/>
              </a:rPr>
              <a:t>establishes </a:t>
            </a:r>
            <a:r>
              <a:rPr spc="-60" dirty="0">
                <a:latin typeface="Verdana"/>
                <a:cs typeface="Verdana"/>
              </a:rPr>
              <a:t>consistent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font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70" dirty="0">
                <a:latin typeface="Verdana"/>
                <a:cs typeface="Verdana"/>
              </a:rPr>
              <a:t>families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0" dirty="0">
                <a:latin typeface="Verdana"/>
                <a:cs typeface="Verdana"/>
              </a:rPr>
              <a:t>across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all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pages.</a:t>
            </a: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pc="-10" dirty="0">
              <a:latin typeface="Verdana"/>
              <a:cs typeface="Verdana"/>
            </a:endParaRPr>
          </a:p>
          <a:p>
            <a:pPr marL="13970">
              <a:lnSpc>
                <a:spcPct val="100000"/>
              </a:lnSpc>
            </a:pPr>
            <a:r>
              <a:rPr spc="30" dirty="0"/>
              <a:t>03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30" dirty="0"/>
          </a:p>
          <a:p>
            <a:pPr marL="29209">
              <a:lnSpc>
                <a:spcPct val="100000"/>
              </a:lnSpc>
            </a:pPr>
            <a:r>
              <a:rPr sz="1650" spc="-130" dirty="0">
                <a:latin typeface="Arial Black"/>
                <a:cs typeface="Arial Black"/>
              </a:rPr>
              <a:t>Interactive</a:t>
            </a:r>
            <a:r>
              <a:rPr sz="1650" spc="-190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Navigation</a:t>
            </a:r>
            <a:endParaRPr sz="1650">
              <a:latin typeface="Arial Black"/>
              <a:cs typeface="Arial Black"/>
            </a:endParaRPr>
          </a:p>
          <a:p>
            <a:pPr marL="29209" marR="196215">
              <a:lnSpc>
                <a:spcPct val="134600"/>
              </a:lnSpc>
              <a:spcBef>
                <a:spcPts val="605"/>
              </a:spcBef>
            </a:pPr>
            <a:r>
              <a:rPr spc="-85" dirty="0">
                <a:latin typeface="Verdana"/>
                <a:cs typeface="Verdana"/>
              </a:rPr>
              <a:t>Styled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80" dirty="0">
                <a:latin typeface="Verdana"/>
                <a:cs typeface="Verdana"/>
              </a:rPr>
              <a:t>navigation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75" dirty="0">
                <a:latin typeface="Verdana"/>
                <a:cs typeface="Verdana"/>
              </a:rPr>
              <a:t>links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55" dirty="0">
                <a:latin typeface="Verdana"/>
                <a:cs typeface="Verdana"/>
              </a:rPr>
              <a:t>include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85" dirty="0">
                <a:latin typeface="Verdana"/>
                <a:cs typeface="Verdana"/>
              </a:rPr>
              <a:t>hover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55" dirty="0">
                <a:latin typeface="Verdana"/>
                <a:cs typeface="Verdana"/>
              </a:rPr>
              <a:t>effects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85" dirty="0">
                <a:latin typeface="Verdana"/>
                <a:cs typeface="Verdana"/>
              </a:rPr>
              <a:t>that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70" dirty="0">
                <a:latin typeface="Verdana"/>
                <a:cs typeface="Verdana"/>
              </a:rPr>
              <a:t>enhance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user </a:t>
            </a:r>
            <a:r>
              <a:rPr spc="-65" dirty="0">
                <a:latin typeface="Verdana"/>
                <a:cs typeface="Verdana"/>
              </a:rPr>
              <a:t>interaction</a:t>
            </a:r>
            <a:r>
              <a:rPr spc="-80" dirty="0">
                <a:latin typeface="Verdana"/>
                <a:cs typeface="Verdana"/>
              </a:rPr>
              <a:t> and </a:t>
            </a:r>
            <a:r>
              <a:rPr spc="-90" dirty="0">
                <a:latin typeface="Verdana"/>
                <a:cs typeface="Verdana"/>
              </a:rPr>
              <a:t>improve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usability.</a:t>
            </a: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pc="-1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40" dirty="0"/>
              <a:t>05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40" dirty="0"/>
          </a:p>
          <a:p>
            <a:pPr marL="29209">
              <a:lnSpc>
                <a:spcPct val="100000"/>
              </a:lnSpc>
            </a:pPr>
            <a:r>
              <a:rPr sz="1650" spc="-130" dirty="0">
                <a:latin typeface="Arial Black"/>
                <a:cs typeface="Arial Black"/>
              </a:rPr>
              <a:t>Responsive </a:t>
            </a:r>
            <a:r>
              <a:rPr sz="1650" spc="-10" dirty="0">
                <a:latin typeface="Arial Black"/>
                <a:cs typeface="Arial Black"/>
              </a:rPr>
              <a:t>Images</a:t>
            </a:r>
            <a:endParaRPr sz="1650">
              <a:latin typeface="Arial Black"/>
              <a:cs typeface="Arial Black"/>
            </a:endParaRPr>
          </a:p>
          <a:p>
            <a:pPr marL="29209" marR="385445">
              <a:lnSpc>
                <a:spcPct val="139400"/>
              </a:lnSpc>
              <a:spcBef>
                <a:spcPts val="530"/>
              </a:spcBef>
            </a:pPr>
            <a:r>
              <a:rPr spc="-105" dirty="0">
                <a:latin typeface="Verdana"/>
                <a:cs typeface="Verdana"/>
              </a:rPr>
              <a:t>Images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0" dirty="0">
                <a:latin typeface="Verdana"/>
                <a:cs typeface="Verdana"/>
              </a:rPr>
              <a:t>scale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fluidly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0" dirty="0">
                <a:latin typeface="Verdana"/>
                <a:cs typeface="Verdana"/>
              </a:rPr>
              <a:t>across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all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70" dirty="0">
                <a:latin typeface="Verdana"/>
                <a:cs typeface="Verdana"/>
              </a:rPr>
              <a:t>device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90" dirty="0">
                <a:latin typeface="Verdana"/>
                <a:cs typeface="Verdana"/>
              </a:rPr>
              <a:t>sizes,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ensuring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optimal </a:t>
            </a:r>
            <a:r>
              <a:rPr spc="-75" dirty="0">
                <a:latin typeface="Verdana"/>
                <a:cs typeface="Verdana"/>
              </a:rPr>
              <a:t>viewing</a:t>
            </a:r>
            <a:r>
              <a:rPr spc="-100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on</a:t>
            </a:r>
            <a:r>
              <a:rPr spc="-100" dirty="0">
                <a:latin typeface="Verdana"/>
                <a:cs typeface="Verdana"/>
              </a:rPr>
              <a:t> </a:t>
            </a:r>
            <a:r>
              <a:rPr spc="-85" dirty="0">
                <a:latin typeface="Verdana"/>
                <a:cs typeface="Verdana"/>
              </a:rPr>
              <a:t>desktop,</a:t>
            </a:r>
            <a:r>
              <a:rPr spc="-100" dirty="0">
                <a:latin typeface="Verdana"/>
                <a:cs typeface="Verdana"/>
              </a:rPr>
              <a:t> </a:t>
            </a:r>
            <a:r>
              <a:rPr spc="-85" dirty="0">
                <a:latin typeface="Verdana"/>
                <a:cs typeface="Verdana"/>
              </a:rPr>
              <a:t>tablet,</a:t>
            </a:r>
            <a:r>
              <a:rPr spc="-100" dirty="0">
                <a:latin typeface="Verdana"/>
                <a:cs typeface="Verdana"/>
              </a:rPr>
              <a:t> </a:t>
            </a:r>
            <a:r>
              <a:rPr spc="-80" dirty="0">
                <a:latin typeface="Verdana"/>
                <a:cs typeface="Verdana"/>
              </a:rPr>
              <a:t>and</a:t>
            </a:r>
            <a:r>
              <a:rPr spc="-9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mobile.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66447" y="4505293"/>
            <a:ext cx="233679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65" dirty="0">
                <a:solidFill>
                  <a:srgbClr val="8E8E8E"/>
                </a:solidFill>
                <a:latin typeface="Arial MT"/>
                <a:cs typeface="Arial MT"/>
              </a:rPr>
              <a:t>06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00725" y="4791075"/>
            <a:ext cx="5010150" cy="19050"/>
          </a:xfrm>
          <a:custGeom>
            <a:avLst/>
            <a:gdLst/>
            <a:ahLst/>
            <a:cxnLst/>
            <a:rect l="l" t="t" r="r" b="b"/>
            <a:pathLst>
              <a:path w="5010150" h="19050">
                <a:moveTo>
                  <a:pt x="5010150" y="0"/>
                </a:moveTo>
                <a:lnTo>
                  <a:pt x="0" y="0"/>
                </a:lnTo>
                <a:lnTo>
                  <a:pt x="0" y="19050"/>
                </a:lnTo>
                <a:lnTo>
                  <a:pt x="5010150" y="19050"/>
                </a:lnTo>
                <a:lnTo>
                  <a:pt x="501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786386" y="4901342"/>
            <a:ext cx="4634230" cy="898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5" dirty="0">
                <a:solidFill>
                  <a:srgbClr val="8E8E8E"/>
                </a:solidFill>
                <a:latin typeface="Arial Black"/>
                <a:cs typeface="Arial Black"/>
              </a:rPr>
              <a:t>Footer</a:t>
            </a:r>
            <a:r>
              <a:rPr sz="1650" spc="-145" dirty="0">
                <a:solidFill>
                  <a:srgbClr val="8E8E8E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8E8E8E"/>
                </a:solidFill>
                <a:latin typeface="Arial Black"/>
                <a:cs typeface="Arial Black"/>
              </a:rPr>
              <a:t>Design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9400"/>
              </a:lnSpc>
              <a:spcBef>
                <a:spcPts val="530"/>
              </a:spcBef>
            </a:pP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Cohesive</a:t>
            </a:r>
            <a:r>
              <a:rPr sz="13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8E8E8E"/>
                </a:solidFill>
                <a:latin typeface="Verdana"/>
                <a:cs typeface="Verdana"/>
              </a:rPr>
              <a:t>footer</a:t>
            </a:r>
            <a:r>
              <a:rPr sz="13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styling</a:t>
            </a:r>
            <a:r>
              <a:rPr sz="13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complements</a:t>
            </a:r>
            <a:r>
              <a:rPr sz="13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the</a:t>
            </a:r>
            <a:r>
              <a:rPr sz="13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overall</a:t>
            </a:r>
            <a:r>
              <a:rPr sz="1300" spc="-9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8E8E8E"/>
                </a:solidFill>
                <a:latin typeface="Verdana"/>
                <a:cs typeface="Verdana"/>
              </a:rPr>
              <a:t>design</a:t>
            </a:r>
            <a:r>
              <a:rPr sz="1300" spc="-8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8E8E8E"/>
                </a:solidFill>
                <a:latin typeface="Verdana"/>
                <a:cs typeface="Verdana"/>
              </a:rPr>
              <a:t>while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providing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essential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8E8E8E"/>
                </a:solidFill>
                <a:latin typeface="Verdana"/>
                <a:cs typeface="Verdana"/>
              </a:rPr>
              <a:t>information</a:t>
            </a:r>
            <a:r>
              <a:rPr sz="1300" spc="-75" dirty="0">
                <a:solidFill>
                  <a:srgbClr val="8E8E8E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8E8E8E"/>
                </a:solidFill>
                <a:latin typeface="Verdana"/>
                <a:cs typeface="Verdana"/>
              </a:rPr>
              <a:t>and </a:t>
            </a:r>
            <a:r>
              <a:rPr sz="1300" spc="-10" dirty="0">
                <a:solidFill>
                  <a:srgbClr val="8E8E8E"/>
                </a:solidFill>
                <a:latin typeface="Verdana"/>
                <a:cs typeface="Verdana"/>
              </a:rPr>
              <a:t>links.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973B-27EF-C366-C9DB-2223903A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5B13867-01EA-5288-A39A-A21670824C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2689225"/>
            <a:ext cx="5913120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265" dirty="0"/>
              <a:t>              THANK YOU</a:t>
            </a:r>
            <a:endParaRPr spc="-265" dirty="0"/>
          </a:p>
        </p:txBody>
      </p:sp>
    </p:spTree>
    <p:extLst>
      <p:ext uri="{BB962C8B-B14F-4D97-AF65-F5344CB8AC3E}">
        <p14:creationId xmlns:p14="http://schemas.microsoft.com/office/powerpoint/2010/main" val="313312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398</Words>
  <Application>Microsoft Office PowerPoint</Application>
  <PresentationFormat>Custom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Black</vt:lpstr>
      <vt:lpstr>Arial MT</vt:lpstr>
      <vt:lpstr>OpenSymbol</vt:lpstr>
      <vt:lpstr>Verdana</vt:lpstr>
      <vt:lpstr>Office Theme</vt:lpstr>
      <vt:lpstr>FitLife Gym Website Project</vt:lpstr>
      <vt:lpstr>Home Page Architecture</vt:lpstr>
      <vt:lpstr>About &amp; Classes Pages</vt:lpstr>
      <vt:lpstr>Contact Page Structure</vt:lpstr>
      <vt:lpstr>Login &amp; Sign-Up System</vt:lpstr>
      <vt:lpstr>CSS Styling Framework (style.css)</vt:lpstr>
      <vt:lpstr>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Waheed Haider</cp:lastModifiedBy>
  <cp:revision>5</cp:revision>
  <dcterms:created xsi:type="dcterms:W3CDTF">2025-12-10T13:31:15Z</dcterms:created>
  <dcterms:modified xsi:type="dcterms:W3CDTF">2025-12-10T14:06:58Z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2025-12-10T00:00:00Z</vt:filetime>
  </property>
  <property fmtid="{D5CDD505-2E9C-101B-9397-08002B2CF9AE}" pid="5" name="Producer">
    <vt:lpwstr>GPL Ghostscript 9.56.1</vt:lpwstr>
  </property>
</Properties>
</file>